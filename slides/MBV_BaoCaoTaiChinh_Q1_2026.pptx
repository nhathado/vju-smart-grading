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8A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ar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5120640" cy="516096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194560" cy="884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651760"/>
            <a:ext cx="6766560" cy="1828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Báo cáo tài chính quý I/2026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63440"/>
            <a:ext cx="1097280" cy="54864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Ngân hàng TNHH MTV Việt Nam Hiện Đại (MBV) · BẢN NHÁP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C743"/>
                </a:solidFill>
                <a:latin typeface="Liberation Sans"/>
                <a:ea typeface="Liberation Sans"/>
                <a:cs typeface="Liberation Sans"/>
              </a:rPr>
              <a:t>Kỳ báo cáo 01/01 – 31/03/2026 · 06/10/2026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Lưu ý về số liệu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MBV là ngân hàng 100% vốn của MB, không niêm yết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Chưa tìm thấy báo cáo tài chính riêng của MBV quý I/2026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Số liệu trình bày là của MB hợp nhất (công ty mẹ), chỉ để tham chiếu bối cảnh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Chỉ tiêu của MBV cần điền từ báo cáo tài chính chính thức</a:t>
            </a:r>
          </a:p>
          <a:p>
            <a:pPr marL="57150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–"/>
            </a:pPr>
            <a:r>
              <a:rPr sz="17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Nguồn MB: báo chí, chưa đối chiếu báo cáo tài chính gốc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Giới thiệu MBV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Tên mới của OceanBank từ tháng 03/2025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MB sở hữu 100% vốn điều lệ sau chuyển giao bắt buộc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Thành viên hệ sinh thái MB Group: MB, MB Campuchia, MBV và các công ty thành viên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Bộ nhận diện mới áp dụng tại 101 điểm giao dịch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r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3017520"/>
            <a:ext cx="4572000" cy="4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77440"/>
            <a:ext cx="822960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Bối cảnh: MB hợp nhất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023360"/>
            <a:ext cx="1097280" cy="54864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Số liệu công ty mẹ, không phải của MBV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MB hợp nhất · Kết quả quý I/2026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487853" cy="27432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2487853" cy="73152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2030653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9.628 tỷ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0306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Lợi nhuận trước thuế (+14,8%)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973" y="1920240"/>
            <a:ext cx="2487853" cy="27432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973" y="1920240"/>
            <a:ext cx="2487853" cy="73152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6573" y="2377440"/>
            <a:ext cx="2030653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B61D22"/>
                </a:solidFill>
                <a:latin typeface="Liberation Sans"/>
                <a:ea typeface="Liberation Sans"/>
                <a:cs typeface="Liberation Sans"/>
              </a:rPr>
              <a:t>7.703 tỷ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573" y="3657600"/>
            <a:ext cx="20306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Lợi nhuận sau thuế (+15,4%)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1920240"/>
            <a:ext cx="2487853" cy="27432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1920240"/>
            <a:ext cx="2487853" cy="73152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2377440"/>
            <a:ext cx="2030653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B61D22"/>
                </a:solidFill>
                <a:latin typeface="Liberation Sans"/>
                <a:ea typeface="Liberation Sans"/>
                <a:cs typeface="Liberation Sans"/>
              </a:rPr>
              <a:t>14.913 tỷ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657600"/>
            <a:ext cx="20306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Thu nhập lãi thuần (+27,5%)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3761" y="1920240"/>
            <a:ext cx="2487853" cy="27432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3761" y="1920240"/>
            <a:ext cx="2487853" cy="73152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2361" y="2377440"/>
            <a:ext cx="2030653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B61D22"/>
                </a:solidFill>
                <a:latin typeface="Liberation Sans"/>
                <a:ea typeface="Liberation Sans"/>
                <a:cs typeface="Liberation Sans"/>
              </a:rPr>
              <a:t>1.709 tỷ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2361" y="3657600"/>
            <a:ext cx="203065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Thu nhập dịch vụ (+38,3%)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Nguồn: báo chí công bố kết quả MB quý I/2026. Đây là số liệu MB, không phải MBV.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MB hợp nhất · Quy mô tại 31/03/2026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911535" cy="2743200"/>
        </p:xfrm>
        <a:graphic>
          <a:graphicData uri="http://schemas.openxmlformats.org/drawingml/2006/table">
            <a:tbl>
              <a:tblPr firstRow="0" bandRow="0"/>
              <a:tblGrid>
                <a:gridCol w="5455767"/>
                <a:gridCol w="5455768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Chỉ tiêu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Giá trị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Tổng tài sản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khoảng 1,61 triệu tỷ đồng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Dư nợ tín dụng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khoảng 1,12 triệu tỷ đồng (+3,4% so với đầu năm)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Vốn chủ sở hữu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149.745 tỷ đồng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Tổng thu nhập hoạt động (quý I)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17.430 tỷ đồng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Tỷ lệ nợ xấu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dưới 1,5%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r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3017520"/>
            <a:ext cx="4572000" cy="4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77440"/>
            <a:ext cx="822960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Chỉ tiêu của MBV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023360"/>
            <a:ext cx="1097280" cy="54864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Cần điền từ báo cáo tài chính chính thức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MBV · Chỉ tiêu quý I/2026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911535" cy="3200400"/>
        </p:xfrm>
        <a:graphic>
          <a:graphicData uri="http://schemas.openxmlformats.org/drawingml/2006/table">
            <a:tbl>
              <a:tblPr firstRow="0" bandRow="0"/>
              <a:tblGrid>
                <a:gridCol w="2727883"/>
                <a:gridCol w="2727883"/>
                <a:gridCol w="2727883"/>
                <a:gridCol w="2727886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Chỉ tiêu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Quý I/2026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Quý I/2025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Thay đổi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Tổng tài sản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Dư nợ tín dụng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Huy động khách hàng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Thu nhập lãi thuần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Lợi nhuận trước thuế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Tỷ lệ nợ xấu (NPL)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[điền]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Bước tiếp theo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Cung cấp báo cáo tài chính quý I/2026 của MBV (PDF/Excel)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Điền bảng chỉ tiêu MBV và bổ sung nhận định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Đối chiếu số liệu MB với báo cáo tài chính gốc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Rà soát tài sản thương hiệu gốc trước khi công bố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r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4754880" cy="4792320"/>
          </a:xfrm>
          <a:prstGeom prst="rect">
            <a:avLst/>
          </a:prstGeom>
        </p:spPr>
      </p:pic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194560" cy="884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743200"/>
            <a:ext cx="685800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Xin cảm ơn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1097280" cy="54864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Bản nháp theo quy chuẩn nhận diện MBV · chưa được MBV xác nhận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